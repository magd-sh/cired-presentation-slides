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6" r:id="rId9"/>
    <p:sldId id="265" r:id="rId10"/>
    <p:sldId id="266" r:id="rId11"/>
    <p:sldId id="263" r:id="rId12"/>
    <p:sldId id="264" r:id="rId13"/>
    <p:sldId id="267" r:id="rId14"/>
    <p:sldId id="268" r:id="rId15"/>
    <p:sldId id="277" r:id="rId16"/>
    <p:sldId id="269" r:id="rId17"/>
    <p:sldId id="270" r:id="rId18"/>
    <p:sldId id="271" r:id="rId19"/>
    <p:sldId id="272" r:id="rId20"/>
    <p:sldId id="273" r:id="rId21"/>
    <p:sldId id="274" r:id="rId22"/>
    <p:sldId id="275" r:id="rId23"/>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30"/>
    <p:restoredTop sz="94673"/>
  </p:normalViewPr>
  <p:slideViewPr>
    <p:cSldViewPr snapToGrid="0">
      <p:cViewPr varScale="1">
        <p:scale>
          <a:sx n="125" d="100"/>
          <a:sy n="125" d="100"/>
        </p:scale>
        <p:origin x="168"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BE31-0D8B-0AB6-43CF-F22FCFFC83B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6A9D16A-4907-E5E6-8CB5-0B9CC80C48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85E9825-4500-1D09-1E68-3C4CAAA2C6C0}"/>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9D65FABA-6986-5C13-C1D5-AD33AC2EB6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4D2D61-5CE5-2C64-251D-0CF841E0906D}"/>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1066576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1B05-C3FC-2E11-03C4-16D7B5CBBC5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A196122-472D-DD2B-CD4E-E888CAE743B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45ADA3F-BFF1-91CC-DEF0-851605F65916}"/>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BBD2CCA8-AE84-20F0-2257-E82FFC084C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FEA43A-1C7D-3401-45F3-04A0A61B1D78}"/>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8279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97FE-4FA5-CA08-6307-380DF83A7F4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F06587BC-2A64-6D1D-320F-942A459020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C27DEBD-7876-5EB1-3EE2-3D962314C8D0}"/>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628CB283-4143-980A-7988-35D7C0072D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8915EF-E59F-C9F5-E44A-4C710CE01EC5}"/>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1412058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1697C-B3CF-8C60-0EC0-2E2562AAAAE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F9ED253-A7B1-185C-EFF0-56F3EDDFE1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B997882-EE30-FAED-85D8-2CFD8599E57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3C8E7D71-C50A-8DCB-CB1B-8C1AED851521}"/>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6" name="Footer Placeholder 5">
            <a:extLst>
              <a:ext uri="{FF2B5EF4-FFF2-40B4-BE49-F238E27FC236}">
                <a16:creationId xmlns:a16="http://schemas.microsoft.com/office/drawing/2014/main" id="{BAB2E88B-6802-88AF-B9B8-55AE50E128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D45037-B7B1-654F-E840-BD8AD0CFC203}"/>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366767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3BD11-C925-EFA5-C0E3-189E22C7BF47}"/>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E6958989-C352-98FB-DABE-4F100D8322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AF79051-9FE4-BC5C-BEBB-5EB1B90FD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324904B-9980-B1DA-1F4E-161A6F8F43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6E09A92-6718-D04F-CD51-8FEBC77E3E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7C42931-C026-34F6-1B56-980C34059B9F}"/>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8" name="Footer Placeholder 7">
            <a:extLst>
              <a:ext uri="{FF2B5EF4-FFF2-40B4-BE49-F238E27FC236}">
                <a16:creationId xmlns:a16="http://schemas.microsoft.com/office/drawing/2014/main" id="{308DEB63-9C17-C097-C023-6FC00C0045D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4D69140-3894-0922-00CD-2FA62812066E}"/>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112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FC0E-65AF-D543-7C98-CBF0F04E5FD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DD7B0FB1-389A-709F-D267-4C58D2540EBD}"/>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4" name="Footer Placeholder 3">
            <a:extLst>
              <a:ext uri="{FF2B5EF4-FFF2-40B4-BE49-F238E27FC236}">
                <a16:creationId xmlns:a16="http://schemas.microsoft.com/office/drawing/2014/main" id="{E2A6828E-EE22-BDE0-F1E0-97FF6D667F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CFCFB05-F07A-C1BA-3751-FE4E3E4B6338}"/>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245593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CB4D5C-268E-FF3C-30C9-50C288BAF5C9}"/>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3" name="Footer Placeholder 2">
            <a:extLst>
              <a:ext uri="{FF2B5EF4-FFF2-40B4-BE49-F238E27FC236}">
                <a16:creationId xmlns:a16="http://schemas.microsoft.com/office/drawing/2014/main" id="{9CF44B5E-FC83-FFBE-EC5B-3B1EA1315EB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ED00E7-789D-BDD3-5200-CAF9CB9FA7CF}"/>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7733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76899-08EF-A763-E123-6A759246A2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79E5AD6-F15B-0034-A9EA-92D026A722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39F5654-1F4E-1B5A-646E-729AB66BB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70A3D05-4CEB-F0F6-F6D1-B43819D2767A}"/>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6" name="Footer Placeholder 5">
            <a:extLst>
              <a:ext uri="{FF2B5EF4-FFF2-40B4-BE49-F238E27FC236}">
                <a16:creationId xmlns:a16="http://schemas.microsoft.com/office/drawing/2014/main" id="{0BBEA9F0-5861-9ACB-AA37-FACFD2F152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A49C1E-A65A-DA9B-E253-2F271F89287F}"/>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4120549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3FD0-38C1-52F0-4D8F-618AD578C6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2906ACB-0116-C677-75D3-73513EE870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3DB2723-2F11-956F-DB35-7B6986B87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0BFC524-3214-07DC-BB0A-B89676F40CCA}"/>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6" name="Footer Placeholder 5">
            <a:extLst>
              <a:ext uri="{FF2B5EF4-FFF2-40B4-BE49-F238E27FC236}">
                <a16:creationId xmlns:a16="http://schemas.microsoft.com/office/drawing/2014/main" id="{58383B66-A56F-E564-D111-034632BE53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CF59B81-39E6-B516-13F0-D455FA6D85D1}"/>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3070003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104F1-F91B-6454-3351-8FDFA8826F8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C38CFA3-1D2D-079B-2F4F-27D03ED8B6D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A1626C5-D0BE-960C-1AB0-D68B18B21393}"/>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7523C8B5-161E-90B0-A3F5-A466A1CDF2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855B188-1679-CE44-3249-0E1A1BCFAC98}"/>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184792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FC3023-2EC2-BBA3-93CF-CA9DA925782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E6885DE-7BCC-D147-B6FD-2BEEF0D1EEE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600201-6BEE-BD24-DEFB-53A8F13C266E}"/>
              </a:ext>
            </a:extLst>
          </p:cNvPr>
          <p:cNvSpPr>
            <a:spLocks noGrp="1"/>
          </p:cNvSpPr>
          <p:nvPr>
            <p:ph type="dt" sz="half" idx="10"/>
          </p:nvPr>
        </p:nvSpPr>
        <p:spPr/>
        <p:txBody>
          <a:body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211653A3-7021-5B32-3D86-D4A2D58925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56269C-DE75-0846-488A-E10A83915A9F}"/>
              </a:ext>
            </a:extLst>
          </p:cNvPr>
          <p:cNvSpPr>
            <a:spLocks noGrp="1"/>
          </p:cNvSpPr>
          <p:nvPr>
            <p:ph type="sldNum" sz="quarter" idx="12"/>
          </p:nvPr>
        </p:nvSpPr>
        <p:spPr/>
        <p:txBody>
          <a:bodyPr/>
          <a:lstStyle/>
          <a:p>
            <a:fld id="{5C58109E-2415-C645-923B-FE4064FA3F56}" type="slidenum">
              <a:rPr lang="en-GB" smtClean="0"/>
              <a:t>‹#›</a:t>
            </a:fld>
            <a:endParaRPr lang="en-GB"/>
          </a:p>
        </p:txBody>
      </p:sp>
    </p:spTree>
    <p:extLst>
      <p:ext uri="{BB962C8B-B14F-4D97-AF65-F5344CB8AC3E}">
        <p14:creationId xmlns:p14="http://schemas.microsoft.com/office/powerpoint/2010/main" val="1345767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117AB-DE43-FBF1-34D3-CCAB6B4BAD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0BBFB34-95EE-9E2A-D058-19276125D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93D13B-588F-0D3C-B5A8-326454FC83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A69A69-D6FD-3D45-98E8-4C7065B0BAAB}" type="datetimeFigureOut">
              <a:rPr lang="en-GB" smtClean="0"/>
              <a:t>29/04/2026</a:t>
            </a:fld>
            <a:endParaRPr lang="en-GB"/>
          </a:p>
        </p:txBody>
      </p:sp>
      <p:sp>
        <p:nvSpPr>
          <p:cNvPr id="5" name="Footer Placeholder 4">
            <a:extLst>
              <a:ext uri="{FF2B5EF4-FFF2-40B4-BE49-F238E27FC236}">
                <a16:creationId xmlns:a16="http://schemas.microsoft.com/office/drawing/2014/main" id="{D2DB05E4-21B2-F300-4BE0-A0A4CDB79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AE9352E-C133-6032-9DE8-BDADC09A41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58109E-2415-C645-923B-FE4064FA3F56}" type="slidenum">
              <a:rPr lang="en-GB" smtClean="0"/>
              <a:t>‹#›</a:t>
            </a:fld>
            <a:endParaRPr lang="en-GB"/>
          </a:p>
        </p:txBody>
      </p:sp>
    </p:spTree>
    <p:extLst>
      <p:ext uri="{BB962C8B-B14F-4D97-AF65-F5344CB8AC3E}">
        <p14:creationId xmlns:p14="http://schemas.microsoft.com/office/powerpoint/2010/main" val="3750127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open.urssaf.fr/explore/dataset/etablissements-et-effectifs-salaries-au-niveau-commune-x-ape-last/information/?refine.secteur_na88=29+Industrie+automobil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magd-sh.github.io/CIRED-project/regional_division_automotive_industry.html"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magd-sh.github.io/CIRED-project/department_division_automotive_employment.htm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magd-sh.github.io/CIRED-project/france_auto_employment_department.html" TargetMode="External"/><Relationship Id="rId2" Type="http://schemas.openxmlformats.org/officeDocument/2006/relationships/hyperlink" Target="https://magd-sh.github.io/CIRED-project/regional_auto_comparison_map.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8133-4474-E4C6-37EC-402C5C4197E3}"/>
              </a:ext>
            </a:extLst>
          </p:cNvPr>
          <p:cNvSpPr>
            <a:spLocks noGrp="1"/>
          </p:cNvSpPr>
          <p:nvPr>
            <p:ph type="ctrTitle"/>
          </p:nvPr>
        </p:nvSpPr>
        <p:spPr>
          <a:xfrm>
            <a:off x="1524000" y="0"/>
            <a:ext cx="9144000" cy="2387600"/>
          </a:xfrm>
        </p:spPr>
        <p:txBody>
          <a:bodyPr/>
          <a:lstStyle/>
          <a:p>
            <a:r>
              <a:rPr lang="en-US" dirty="0"/>
              <a:t>Point Hebdo 3</a:t>
            </a:r>
            <a:endParaRPr lang="en-GB" dirty="0"/>
          </a:p>
        </p:txBody>
      </p:sp>
      <p:sp>
        <p:nvSpPr>
          <p:cNvPr id="3" name="Subtitle 2">
            <a:extLst>
              <a:ext uri="{FF2B5EF4-FFF2-40B4-BE49-F238E27FC236}">
                <a16:creationId xmlns:a16="http://schemas.microsoft.com/office/drawing/2014/main" id="{7E939A7D-2E88-590D-6598-8A990C82ECE8}"/>
              </a:ext>
            </a:extLst>
          </p:cNvPr>
          <p:cNvSpPr>
            <a:spLocks noGrp="1"/>
          </p:cNvSpPr>
          <p:nvPr>
            <p:ph type="subTitle" idx="1"/>
          </p:nvPr>
        </p:nvSpPr>
        <p:spPr>
          <a:xfrm>
            <a:off x="1524000" y="2387600"/>
            <a:ext cx="9144000" cy="1655762"/>
          </a:xfrm>
        </p:spPr>
        <p:txBody>
          <a:bodyPr/>
          <a:lstStyle/>
          <a:p>
            <a:r>
              <a:rPr lang="en-GB" dirty="0"/>
              <a:t>Une trouvaille qui </a:t>
            </a:r>
            <a:r>
              <a:rPr lang="en-GB" dirty="0" err="1"/>
              <a:t>peut</a:t>
            </a:r>
            <a:r>
              <a:rPr lang="en-GB" dirty="0"/>
              <a:t> changer la </a:t>
            </a:r>
            <a:r>
              <a:rPr lang="en-GB" dirty="0" err="1"/>
              <a:t>donne</a:t>
            </a:r>
            <a:r>
              <a:rPr lang="en-GB" dirty="0"/>
              <a:t> pour la France</a:t>
            </a:r>
          </a:p>
          <a:p>
            <a:r>
              <a:rPr lang="en-GB" dirty="0"/>
              <a:t>+ la Base Eurostat</a:t>
            </a:r>
          </a:p>
          <a:p>
            <a:r>
              <a:rPr lang="en-GB" dirty="0"/>
              <a:t>+ Reproduction des </a:t>
            </a:r>
            <a:r>
              <a:rPr lang="en-GB" dirty="0" err="1"/>
              <a:t>graphiques</a:t>
            </a:r>
            <a:r>
              <a:rPr lang="en-GB" dirty="0"/>
              <a:t> </a:t>
            </a:r>
            <a:r>
              <a:rPr lang="en-GB" dirty="0" err="1"/>
              <a:t>Pavlink</a:t>
            </a:r>
            <a:endParaRPr lang="en-GB" dirty="0"/>
          </a:p>
        </p:txBody>
      </p:sp>
      <p:sp>
        <p:nvSpPr>
          <p:cNvPr id="5" name="TextBox 4">
            <a:extLst>
              <a:ext uri="{FF2B5EF4-FFF2-40B4-BE49-F238E27FC236}">
                <a16:creationId xmlns:a16="http://schemas.microsoft.com/office/drawing/2014/main" id="{DC78E91F-217A-4B82-9453-357FB55FA2E0}"/>
              </a:ext>
            </a:extLst>
          </p:cNvPr>
          <p:cNvSpPr txBox="1"/>
          <p:nvPr/>
        </p:nvSpPr>
        <p:spPr>
          <a:xfrm>
            <a:off x="1010920" y="5784631"/>
            <a:ext cx="10170160" cy="646331"/>
          </a:xfrm>
          <a:prstGeom prst="rect">
            <a:avLst/>
          </a:prstGeom>
          <a:noFill/>
        </p:spPr>
        <p:txBody>
          <a:bodyPr wrap="square" rtlCol="0">
            <a:spAutoFit/>
          </a:bodyPr>
          <a:lstStyle/>
          <a:p>
            <a:r>
              <a:rPr lang="en-GB" dirty="0">
                <a:sym typeface="Wingdings" pitchFamily="2" charset="2"/>
              </a:rPr>
              <a:t> </a:t>
            </a:r>
            <a:r>
              <a:rPr lang="en-GB" dirty="0"/>
              <a:t>Si vous </a:t>
            </a:r>
            <a:r>
              <a:rPr lang="en-GB" dirty="0" err="1"/>
              <a:t>n’arrivez</a:t>
            </a:r>
            <a:r>
              <a:rPr lang="en-GB" dirty="0"/>
              <a:t> pas à visualiser les </a:t>
            </a:r>
            <a:r>
              <a:rPr lang="en-GB" dirty="0" err="1"/>
              <a:t>graphiques</a:t>
            </a:r>
            <a:r>
              <a:rPr lang="en-GB" dirty="0"/>
              <a:t> interactives sur Chrome, </a:t>
            </a:r>
            <a:r>
              <a:rPr lang="en-GB" dirty="0" err="1"/>
              <a:t>essayez</a:t>
            </a:r>
            <a:r>
              <a:rPr lang="en-GB" dirty="0"/>
              <a:t> Safari </a:t>
            </a:r>
            <a:r>
              <a:rPr lang="en-GB" dirty="0" err="1"/>
              <a:t>ou</a:t>
            </a:r>
            <a:r>
              <a:rPr lang="en-GB" dirty="0"/>
              <a:t> </a:t>
            </a:r>
            <a:r>
              <a:rPr lang="en-GB" dirty="0" err="1"/>
              <a:t>autre</a:t>
            </a:r>
            <a:r>
              <a:rPr lang="en-GB" dirty="0"/>
              <a:t> chose, ca </a:t>
            </a:r>
            <a:r>
              <a:rPr lang="en-GB" dirty="0" err="1"/>
              <a:t>va</a:t>
            </a:r>
            <a:r>
              <a:rPr lang="en-GB" dirty="0"/>
              <a:t> plus </a:t>
            </a:r>
            <a:r>
              <a:rPr lang="en-GB" dirty="0" err="1"/>
              <a:t>vite</a:t>
            </a:r>
            <a:r>
              <a:rPr lang="en-GB" dirty="0"/>
              <a:t> ! Sinon vous les </a:t>
            </a:r>
            <a:r>
              <a:rPr lang="en-GB" dirty="0" err="1"/>
              <a:t>trouvez</a:t>
            </a:r>
            <a:r>
              <a:rPr lang="en-GB" dirty="0"/>
              <a:t> </a:t>
            </a:r>
            <a:r>
              <a:rPr lang="en-GB" dirty="0" err="1"/>
              <a:t>aussi</a:t>
            </a:r>
            <a:r>
              <a:rPr lang="en-GB" dirty="0"/>
              <a:t> dans le dossier zip</a:t>
            </a:r>
          </a:p>
        </p:txBody>
      </p:sp>
    </p:spTree>
    <p:extLst>
      <p:ext uri="{BB962C8B-B14F-4D97-AF65-F5344CB8AC3E}">
        <p14:creationId xmlns:p14="http://schemas.microsoft.com/office/powerpoint/2010/main" val="1552852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AFD4-D5A7-CF6E-3BD1-186F1B30CF01}"/>
              </a:ext>
            </a:extLst>
          </p:cNvPr>
          <p:cNvSpPr>
            <a:spLocks noGrp="1"/>
          </p:cNvSpPr>
          <p:nvPr>
            <p:ph type="title"/>
          </p:nvPr>
        </p:nvSpPr>
        <p:spPr>
          <a:xfrm>
            <a:off x="838200" y="255182"/>
            <a:ext cx="10515600" cy="1325563"/>
          </a:xfrm>
        </p:spPr>
        <p:txBody>
          <a:bodyPr/>
          <a:lstStyle/>
          <a:p>
            <a:r>
              <a:rPr lang="en-GB" dirty="0"/>
              <a:t>La base de données de </a:t>
            </a:r>
            <a:r>
              <a:rPr lang="en-GB" dirty="0" err="1"/>
              <a:t>l’URSSAF</a:t>
            </a:r>
            <a:endParaRPr lang="en-GB" dirty="0"/>
          </a:p>
        </p:txBody>
      </p:sp>
      <p:sp>
        <p:nvSpPr>
          <p:cNvPr id="3" name="Content Placeholder 2">
            <a:extLst>
              <a:ext uri="{FF2B5EF4-FFF2-40B4-BE49-F238E27FC236}">
                <a16:creationId xmlns:a16="http://schemas.microsoft.com/office/drawing/2014/main" id="{104F8010-C620-F5D4-9280-50BEE1B79056}"/>
              </a:ext>
            </a:extLst>
          </p:cNvPr>
          <p:cNvSpPr>
            <a:spLocks noGrp="1"/>
          </p:cNvSpPr>
          <p:nvPr>
            <p:ph idx="1"/>
          </p:nvPr>
        </p:nvSpPr>
        <p:spPr>
          <a:xfrm>
            <a:off x="838200" y="1379057"/>
            <a:ext cx="10515600" cy="5223761"/>
          </a:xfrm>
        </p:spPr>
        <p:txBody>
          <a:bodyPr>
            <a:normAutofit/>
          </a:bodyPr>
          <a:lstStyle/>
          <a:p>
            <a:r>
              <a:rPr lang="en-FR" dirty="0"/>
              <a:t>J’ai trouvé une </a:t>
            </a:r>
            <a:r>
              <a:rPr lang="en-FR" dirty="0">
                <a:hlinkClick r:id="rId2"/>
              </a:rPr>
              <a:t>base de données de l’URSSAF </a:t>
            </a:r>
            <a:r>
              <a:rPr lang="en-FR" dirty="0"/>
              <a:t>sur l’emploi automobile en France. La base est agrégée au niveau de l’APE (activité principale exercée). Donc, un même établissement peut avoir plusieurs comptes (i.e., lignes dans la base) s’il exerce plusieurs activités.</a:t>
            </a:r>
          </a:p>
          <a:p>
            <a:r>
              <a:rPr lang="en-FR" dirty="0"/>
              <a:t>Avantage de cette base : bien que l’on n’ait pas les données au niveau de l’usine, nous disposons néanmoins de données pour l’ensemble du secteur automobile en France, au niveau du département, de la commune, et sur la période de 2006 à 2024 !!!</a:t>
            </a:r>
          </a:p>
          <a:p>
            <a:r>
              <a:rPr lang="en-FR" dirty="0"/>
              <a:t>J’ai fait plusieurs analyses et vérifications pour m’assurer de l’utilité de cette base, mais je vous laisse le jugement final.</a:t>
            </a:r>
            <a:endParaRPr lang="en-GB" sz="2400" dirty="0"/>
          </a:p>
          <a:p>
            <a:pPr marL="0" indent="0">
              <a:buNone/>
            </a:pPr>
            <a:endParaRPr lang="en-GB" dirty="0"/>
          </a:p>
          <a:p>
            <a:endParaRPr lang="en-GB" dirty="0"/>
          </a:p>
        </p:txBody>
      </p:sp>
    </p:spTree>
    <p:extLst>
      <p:ext uri="{BB962C8B-B14F-4D97-AF65-F5344CB8AC3E}">
        <p14:creationId xmlns:p14="http://schemas.microsoft.com/office/powerpoint/2010/main" val="2425623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CE29-304B-B505-EC7F-9B56A1BC47CF}"/>
              </a:ext>
            </a:extLst>
          </p:cNvPr>
          <p:cNvSpPr>
            <a:spLocks noGrp="1"/>
          </p:cNvSpPr>
          <p:nvPr>
            <p:ph type="title"/>
          </p:nvPr>
        </p:nvSpPr>
        <p:spPr>
          <a:xfrm>
            <a:off x="838200" y="294005"/>
            <a:ext cx="10515600" cy="1325563"/>
          </a:xfrm>
        </p:spPr>
        <p:txBody>
          <a:bodyPr>
            <a:normAutofit/>
          </a:bodyPr>
          <a:lstStyle/>
          <a:p>
            <a:r>
              <a:rPr lang="en-GB" sz="4000" dirty="0"/>
              <a:t>Analyses et </a:t>
            </a:r>
            <a:r>
              <a:rPr lang="en-GB" sz="4000" dirty="0" err="1"/>
              <a:t>comparaisons</a:t>
            </a:r>
            <a:r>
              <a:rPr lang="en-GB" sz="4000" dirty="0"/>
              <a:t> sur la base URSSAF</a:t>
            </a:r>
          </a:p>
        </p:txBody>
      </p:sp>
      <p:sp>
        <p:nvSpPr>
          <p:cNvPr id="3" name="Content Placeholder 2">
            <a:extLst>
              <a:ext uri="{FF2B5EF4-FFF2-40B4-BE49-F238E27FC236}">
                <a16:creationId xmlns:a16="http://schemas.microsoft.com/office/drawing/2014/main" id="{B89A8746-24EC-69C3-46DF-D339B452C53F}"/>
              </a:ext>
            </a:extLst>
          </p:cNvPr>
          <p:cNvSpPr>
            <a:spLocks noGrp="1"/>
          </p:cNvSpPr>
          <p:nvPr>
            <p:ph idx="1"/>
          </p:nvPr>
        </p:nvSpPr>
        <p:spPr>
          <a:xfrm>
            <a:off x="838200" y="1492233"/>
            <a:ext cx="10515600" cy="4859657"/>
          </a:xfrm>
        </p:spPr>
        <p:txBody>
          <a:bodyPr>
            <a:normAutofit/>
          </a:bodyPr>
          <a:lstStyle/>
          <a:p>
            <a:r>
              <a:rPr lang="en-FR" dirty="0"/>
              <a:t>J’ai fait ces analyses car la base est présentée d’une manière incompréhensible, i.e., plusieurs lignes qui sont parfaitement similaires à travers toutes les variables sauf le nombre d’emploi.</a:t>
            </a:r>
          </a:p>
          <a:p>
            <a:r>
              <a:rPr lang="en-FR" dirty="0"/>
              <a:t>J’ai additionné ces lignes par les différents niveaux : régions, départements, communes pour voir si j’obtiens l’emploi total au niveau voulu.</a:t>
            </a:r>
          </a:p>
          <a:p>
            <a:r>
              <a:rPr lang="en-FR" dirty="0"/>
              <a:t>Ensuite, j’ai fait un peu de descriptif et puis je l’ai comparée avec notre base initiale au niveau de l’usine que j’avais manuellement compilée. Je l’ai également comparée à la base de l’Eurostat.</a:t>
            </a:r>
          </a:p>
          <a:p>
            <a:endParaRPr lang="en-GB" dirty="0"/>
          </a:p>
          <a:p>
            <a:endParaRPr lang="en-GB" dirty="0"/>
          </a:p>
          <a:p>
            <a:endParaRPr lang="en-GB" dirty="0"/>
          </a:p>
          <a:p>
            <a:pPr lvl="1"/>
            <a:endParaRPr lang="en-FR" i="1" dirty="0"/>
          </a:p>
        </p:txBody>
      </p:sp>
      <p:sp>
        <p:nvSpPr>
          <p:cNvPr id="4" name="TextBox 3">
            <a:extLst>
              <a:ext uri="{FF2B5EF4-FFF2-40B4-BE49-F238E27FC236}">
                <a16:creationId xmlns:a16="http://schemas.microsoft.com/office/drawing/2014/main" id="{301F2774-5F34-7CF9-C187-3990298D0626}"/>
              </a:ext>
            </a:extLst>
          </p:cNvPr>
          <p:cNvSpPr txBox="1"/>
          <p:nvPr/>
        </p:nvSpPr>
        <p:spPr>
          <a:xfrm>
            <a:off x="1148316" y="5188688"/>
            <a:ext cx="9888279" cy="369332"/>
          </a:xfrm>
          <a:prstGeom prst="rect">
            <a:avLst/>
          </a:prstGeom>
          <a:noFill/>
        </p:spPr>
        <p:txBody>
          <a:bodyPr wrap="square" rtlCol="0">
            <a:spAutoFit/>
          </a:bodyPr>
          <a:lstStyle/>
          <a:p>
            <a:r>
              <a:rPr lang="en-GB" dirty="0"/>
              <a:t> </a:t>
            </a:r>
          </a:p>
        </p:txBody>
      </p:sp>
    </p:spTree>
    <p:extLst>
      <p:ext uri="{BB962C8B-B14F-4D97-AF65-F5344CB8AC3E}">
        <p14:creationId xmlns:p14="http://schemas.microsoft.com/office/powerpoint/2010/main" val="1210921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997F-B5DC-27B0-F719-271FE8F244C3}"/>
              </a:ext>
            </a:extLst>
          </p:cNvPr>
          <p:cNvSpPr>
            <a:spLocks noGrp="1"/>
          </p:cNvSpPr>
          <p:nvPr>
            <p:ph type="title"/>
          </p:nvPr>
        </p:nvSpPr>
        <p:spPr/>
        <p:txBody>
          <a:bodyPr/>
          <a:lstStyle/>
          <a:p>
            <a:r>
              <a:rPr lang="en-GB" dirty="0" err="1"/>
              <a:t>Découvrir</a:t>
            </a:r>
            <a:r>
              <a:rPr lang="en-GB" dirty="0"/>
              <a:t> la base de </a:t>
            </a:r>
            <a:r>
              <a:rPr lang="en-GB" dirty="0" err="1"/>
              <a:t>l’URSSAF</a:t>
            </a:r>
            <a:endParaRPr lang="en-GB" dirty="0"/>
          </a:p>
        </p:txBody>
      </p:sp>
      <p:pic>
        <p:nvPicPr>
          <p:cNvPr id="5" name="Picture 4">
            <a:extLst>
              <a:ext uri="{FF2B5EF4-FFF2-40B4-BE49-F238E27FC236}">
                <a16:creationId xmlns:a16="http://schemas.microsoft.com/office/drawing/2014/main" id="{F46DA9C5-49D7-2DE6-F237-CEFA4D54A0DC}"/>
              </a:ext>
            </a:extLst>
          </p:cNvPr>
          <p:cNvPicPr>
            <a:picLocks noChangeAspect="1"/>
          </p:cNvPicPr>
          <p:nvPr/>
        </p:nvPicPr>
        <p:blipFill>
          <a:blip r:embed="rId2"/>
          <a:stretch>
            <a:fillRect/>
          </a:stretch>
        </p:blipFill>
        <p:spPr>
          <a:xfrm>
            <a:off x="169863" y="1690688"/>
            <a:ext cx="7917497" cy="4414723"/>
          </a:xfrm>
          <a:prstGeom prst="rect">
            <a:avLst/>
          </a:prstGeom>
        </p:spPr>
      </p:pic>
      <p:sp>
        <p:nvSpPr>
          <p:cNvPr id="6" name="TextBox 5">
            <a:extLst>
              <a:ext uri="{FF2B5EF4-FFF2-40B4-BE49-F238E27FC236}">
                <a16:creationId xmlns:a16="http://schemas.microsoft.com/office/drawing/2014/main" id="{AC281689-367A-C7D1-1F8A-A36C0E5C30BA}"/>
              </a:ext>
            </a:extLst>
          </p:cNvPr>
          <p:cNvSpPr txBox="1"/>
          <p:nvPr/>
        </p:nvSpPr>
        <p:spPr>
          <a:xfrm>
            <a:off x="8524240" y="1920240"/>
            <a:ext cx="3474720" cy="3970318"/>
          </a:xfrm>
          <a:prstGeom prst="rect">
            <a:avLst/>
          </a:prstGeom>
          <a:noFill/>
        </p:spPr>
        <p:txBody>
          <a:bodyPr wrap="square" rtlCol="0">
            <a:spAutoFit/>
          </a:bodyPr>
          <a:lstStyle/>
          <a:p>
            <a:r>
              <a:rPr lang="en-GB" dirty="0">
                <a:sym typeface="Wingdings" pitchFamily="2" charset="2"/>
              </a:rPr>
              <a:t> </a:t>
            </a:r>
            <a:r>
              <a:rPr lang="en-GB" dirty="0"/>
              <a:t>Voir la distribution de </a:t>
            </a:r>
            <a:r>
              <a:rPr lang="en-GB" dirty="0" err="1"/>
              <a:t>l’emploi</a:t>
            </a:r>
            <a:r>
              <a:rPr lang="en-GB" dirty="0"/>
              <a:t> au </a:t>
            </a:r>
            <a:r>
              <a:rPr lang="en-GB" dirty="0" err="1"/>
              <a:t>niveau</a:t>
            </a:r>
            <a:r>
              <a:rPr lang="en-GB" dirty="0"/>
              <a:t> </a:t>
            </a:r>
            <a:r>
              <a:rPr lang="en-GB" dirty="0" err="1"/>
              <a:t>régianal</a:t>
            </a:r>
            <a:r>
              <a:rPr lang="en-GB" dirty="0"/>
              <a:t> (URSSAF) at : </a:t>
            </a:r>
          </a:p>
          <a:p>
            <a:r>
              <a:rPr lang="en-GB" dirty="0">
                <a:hlinkClick r:id="rId3"/>
              </a:rPr>
              <a:t>https://magd-sh.github.io/CIRED-project/regional_division_automotive_industry.html</a:t>
            </a:r>
            <a:endParaRPr lang="en-GB" dirty="0"/>
          </a:p>
          <a:p>
            <a:endParaRPr lang="en-GB" dirty="0"/>
          </a:p>
          <a:p>
            <a:endParaRPr lang="en-GB" dirty="0"/>
          </a:p>
          <a:p>
            <a:r>
              <a:rPr lang="en-GB" dirty="0">
                <a:sym typeface="Wingdings" pitchFamily="2" charset="2"/>
              </a:rPr>
              <a:t> </a:t>
            </a:r>
            <a:r>
              <a:rPr lang="en-GB" dirty="0"/>
              <a:t>Voir la distribution de </a:t>
            </a:r>
            <a:r>
              <a:rPr lang="en-GB" dirty="0" err="1"/>
              <a:t>l’emploi</a:t>
            </a:r>
            <a:r>
              <a:rPr lang="en-GB" dirty="0"/>
              <a:t> au </a:t>
            </a:r>
            <a:r>
              <a:rPr lang="en-GB" dirty="0" err="1"/>
              <a:t>niveau</a:t>
            </a:r>
            <a:r>
              <a:rPr lang="en-GB" dirty="0"/>
              <a:t> </a:t>
            </a:r>
            <a:r>
              <a:rPr lang="en-GB" dirty="0" err="1"/>
              <a:t>départemental</a:t>
            </a:r>
            <a:r>
              <a:rPr lang="en-GB" dirty="0"/>
              <a:t> (URSSAF) at : </a:t>
            </a:r>
            <a:r>
              <a:rPr lang="en-GB" dirty="0">
                <a:hlinkClick r:id="rId4"/>
              </a:rPr>
              <a:t>https://magd-sh.github.io/CIRED-project/department_division_automotive_employment.html</a:t>
            </a:r>
            <a:endParaRPr lang="en-GB" dirty="0"/>
          </a:p>
        </p:txBody>
      </p:sp>
    </p:spTree>
    <p:extLst>
      <p:ext uri="{BB962C8B-B14F-4D97-AF65-F5344CB8AC3E}">
        <p14:creationId xmlns:p14="http://schemas.microsoft.com/office/powerpoint/2010/main" val="2933866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E86D9-2809-DAAC-D91E-68622D5C33D7}"/>
              </a:ext>
            </a:extLst>
          </p:cNvPr>
          <p:cNvSpPr>
            <a:spLocks noGrp="1"/>
          </p:cNvSpPr>
          <p:nvPr>
            <p:ph type="title"/>
          </p:nvPr>
        </p:nvSpPr>
        <p:spPr/>
        <p:txBody>
          <a:bodyPr>
            <a:normAutofit/>
          </a:bodyPr>
          <a:lstStyle/>
          <a:p>
            <a:r>
              <a:rPr lang="en-GB" sz="3600" dirty="0" err="1"/>
              <a:t>Comparaison</a:t>
            </a:r>
            <a:r>
              <a:rPr lang="en-GB" sz="3600" dirty="0"/>
              <a:t> avec la base </a:t>
            </a:r>
            <a:r>
              <a:rPr lang="en-GB" sz="3600" dirty="0" err="1"/>
              <a:t>compilée</a:t>
            </a:r>
            <a:r>
              <a:rPr lang="en-GB" sz="3600" dirty="0"/>
              <a:t> à la main</a:t>
            </a:r>
          </a:p>
        </p:txBody>
      </p:sp>
      <p:sp>
        <p:nvSpPr>
          <p:cNvPr id="3" name="Content Placeholder 2">
            <a:extLst>
              <a:ext uri="{FF2B5EF4-FFF2-40B4-BE49-F238E27FC236}">
                <a16:creationId xmlns:a16="http://schemas.microsoft.com/office/drawing/2014/main" id="{BA38243F-3877-50E8-8076-6EC6DC4778CD}"/>
              </a:ext>
            </a:extLst>
          </p:cNvPr>
          <p:cNvSpPr>
            <a:spLocks noGrp="1"/>
          </p:cNvSpPr>
          <p:nvPr>
            <p:ph idx="1"/>
          </p:nvPr>
        </p:nvSpPr>
        <p:spPr>
          <a:xfrm>
            <a:off x="838200" y="1573531"/>
            <a:ext cx="10419080" cy="4943792"/>
          </a:xfrm>
        </p:spPr>
        <p:txBody>
          <a:bodyPr>
            <a:normAutofit/>
          </a:bodyPr>
          <a:lstStyle/>
          <a:p>
            <a:r>
              <a:rPr lang="en-GB" sz="2400" dirty="0"/>
              <a:t>Pour voir </a:t>
            </a:r>
            <a:r>
              <a:rPr lang="en-GB" sz="2400" dirty="0" err="1"/>
              <a:t>si</a:t>
            </a:r>
            <a:r>
              <a:rPr lang="en-GB" sz="2400" dirty="0"/>
              <a:t> les chiffres </a:t>
            </a:r>
            <a:r>
              <a:rPr lang="en-GB" sz="2400" dirty="0" err="1"/>
              <a:t>collent</a:t>
            </a:r>
            <a:r>
              <a:rPr lang="en-GB" sz="2400" dirty="0"/>
              <a:t> bien avec la base de données </a:t>
            </a:r>
            <a:r>
              <a:rPr lang="en-GB" sz="2400" dirty="0" err="1"/>
              <a:t>initiale</a:t>
            </a:r>
            <a:r>
              <a:rPr lang="en-GB" sz="2400" dirty="0"/>
              <a:t>, </a:t>
            </a:r>
            <a:r>
              <a:rPr lang="en-GB" sz="2400" dirty="0" err="1"/>
              <a:t>j’ai</a:t>
            </a:r>
            <a:r>
              <a:rPr lang="en-GB" sz="2400" dirty="0"/>
              <a:t> </a:t>
            </a:r>
            <a:r>
              <a:rPr lang="en-GB" sz="2400" dirty="0" err="1"/>
              <a:t>comparé</a:t>
            </a:r>
            <a:r>
              <a:rPr lang="en-GB" sz="2400" dirty="0"/>
              <a:t> les deux : </a:t>
            </a:r>
          </a:p>
          <a:p>
            <a:pPr lvl="1"/>
            <a:r>
              <a:rPr lang="en-GB" sz="2000" dirty="0"/>
              <a:t>Au </a:t>
            </a:r>
            <a:r>
              <a:rPr lang="en-GB" sz="2000" dirty="0" err="1"/>
              <a:t>niveau</a:t>
            </a:r>
            <a:r>
              <a:rPr lang="en-GB" sz="2000" dirty="0"/>
              <a:t> </a:t>
            </a:r>
            <a:r>
              <a:rPr lang="en-GB" sz="2000" dirty="0" err="1"/>
              <a:t>régional</a:t>
            </a:r>
            <a:r>
              <a:rPr lang="en-GB" sz="2000" dirty="0"/>
              <a:t>, ca </a:t>
            </a:r>
            <a:r>
              <a:rPr lang="en-GB" sz="2000" dirty="0" err="1"/>
              <a:t>donne</a:t>
            </a:r>
            <a:r>
              <a:rPr lang="en-GB" sz="2000" dirty="0"/>
              <a:t> : </a:t>
            </a:r>
            <a:r>
              <a:rPr lang="en-GB" sz="2000" dirty="0">
                <a:hlinkClick r:id="rId2"/>
              </a:rPr>
              <a:t>https://magd-sh.github.io/CIRED-project/regional_auto_comparison_map.html</a:t>
            </a:r>
            <a:endParaRPr lang="en-GB" sz="2000" dirty="0"/>
          </a:p>
          <a:p>
            <a:pPr lvl="1"/>
            <a:r>
              <a:rPr lang="en-GB" sz="2000" dirty="0"/>
              <a:t>Au </a:t>
            </a:r>
            <a:r>
              <a:rPr lang="en-GB" sz="2000" dirty="0" err="1"/>
              <a:t>niveau</a:t>
            </a:r>
            <a:r>
              <a:rPr lang="en-GB" sz="2000" dirty="0"/>
              <a:t> </a:t>
            </a:r>
            <a:r>
              <a:rPr lang="en-GB" sz="2000" dirty="0" err="1"/>
              <a:t>départemental</a:t>
            </a:r>
            <a:r>
              <a:rPr lang="en-GB" sz="2000" dirty="0"/>
              <a:t>, ca </a:t>
            </a:r>
            <a:r>
              <a:rPr lang="en-GB" sz="2000" dirty="0" err="1"/>
              <a:t>donne</a:t>
            </a:r>
            <a:r>
              <a:rPr lang="en-GB" sz="2000" dirty="0"/>
              <a:t> : </a:t>
            </a:r>
            <a:r>
              <a:rPr lang="en-GB" sz="2000" dirty="0">
                <a:hlinkClick r:id="rId3"/>
              </a:rPr>
              <a:t>https://magd-sh.github.io/CIRED-project/france_auto_employment_department.html</a:t>
            </a:r>
            <a:endParaRPr lang="en-GB" sz="2000" dirty="0"/>
          </a:p>
          <a:p>
            <a:r>
              <a:rPr lang="en-FR" sz="2400" dirty="0"/>
              <a:t>On voit déjà que les chiffres d’emploi se rapprochent quand on passe de la </a:t>
            </a:r>
            <a:r>
              <a:rPr lang="en-FR" sz="2400" b="1" dirty="0"/>
              <a:t>région</a:t>
            </a:r>
            <a:r>
              <a:rPr lang="en-FR" sz="2400" dirty="0"/>
              <a:t> au </a:t>
            </a:r>
            <a:r>
              <a:rPr lang="en-FR" sz="2400" b="1" dirty="0"/>
              <a:t>département</a:t>
            </a:r>
            <a:r>
              <a:rPr lang="en-FR" sz="2400" dirty="0"/>
              <a:t>, sachant que la base URSSAF comprend toutes les activités automobiles au sens large :</a:t>
            </a:r>
            <a:endParaRPr lang="en-GB" sz="2400" dirty="0"/>
          </a:p>
          <a:p>
            <a:pPr lvl="1"/>
            <a:r>
              <a:rPr lang="en-GB" sz="2000" dirty="0"/>
              <a:t>Construction de </a:t>
            </a:r>
            <a:r>
              <a:rPr lang="en-GB" sz="2000" dirty="0" err="1"/>
              <a:t>véhicules</a:t>
            </a:r>
            <a:r>
              <a:rPr lang="en-GB" sz="2000" dirty="0"/>
              <a:t> automobiles </a:t>
            </a:r>
          </a:p>
          <a:p>
            <a:pPr lvl="1"/>
            <a:r>
              <a:rPr lang="en-GB" sz="2000" dirty="0"/>
              <a:t>Fabrication de carrosseries et </a:t>
            </a:r>
            <a:r>
              <a:rPr lang="en-GB" sz="2000" dirty="0" err="1"/>
              <a:t>remorques</a:t>
            </a:r>
            <a:endParaRPr lang="en-GB" sz="2000" dirty="0"/>
          </a:p>
          <a:p>
            <a:pPr lvl="1"/>
            <a:r>
              <a:rPr lang="en-GB" sz="2000" dirty="0"/>
              <a:t>Fabrication </a:t>
            </a:r>
            <a:r>
              <a:rPr lang="en-GB" sz="2000" dirty="0" err="1"/>
              <a:t>d’équipements</a:t>
            </a:r>
            <a:r>
              <a:rPr lang="en-GB" sz="2000" dirty="0"/>
              <a:t> </a:t>
            </a:r>
            <a:r>
              <a:rPr lang="en-GB" sz="2000" dirty="0" err="1"/>
              <a:t>électriques</a:t>
            </a:r>
            <a:r>
              <a:rPr lang="en-GB" sz="2000" dirty="0"/>
              <a:t> et </a:t>
            </a:r>
            <a:r>
              <a:rPr lang="en-GB" sz="2000" dirty="0" err="1"/>
              <a:t>électroniques</a:t>
            </a:r>
            <a:r>
              <a:rPr lang="en-GB" sz="2000" dirty="0"/>
              <a:t> automobiles</a:t>
            </a:r>
          </a:p>
          <a:p>
            <a:pPr lvl="1"/>
            <a:r>
              <a:rPr lang="en-GB" sz="2000" dirty="0"/>
              <a:t>Fabrication </a:t>
            </a:r>
            <a:r>
              <a:rPr lang="en-GB" sz="2000" dirty="0" err="1"/>
              <a:t>d’autres</a:t>
            </a:r>
            <a:r>
              <a:rPr lang="en-GB" sz="2000" dirty="0"/>
              <a:t> </a:t>
            </a:r>
            <a:r>
              <a:rPr lang="en-GB" sz="2000" dirty="0" err="1"/>
              <a:t>équipements</a:t>
            </a:r>
            <a:r>
              <a:rPr lang="en-GB" sz="2000" dirty="0"/>
              <a:t> automobiles</a:t>
            </a:r>
          </a:p>
          <a:p>
            <a:pPr lvl="1"/>
            <a:endParaRPr lang="en-GB" sz="2000" dirty="0"/>
          </a:p>
          <a:p>
            <a:pPr lvl="1"/>
            <a:endParaRPr lang="en-GB" sz="2000" dirty="0"/>
          </a:p>
        </p:txBody>
      </p:sp>
    </p:spTree>
    <p:extLst>
      <p:ext uri="{BB962C8B-B14F-4D97-AF65-F5344CB8AC3E}">
        <p14:creationId xmlns:p14="http://schemas.microsoft.com/office/powerpoint/2010/main" val="3263679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67D3-B1FC-536B-B044-876446BE0536}"/>
              </a:ext>
            </a:extLst>
          </p:cNvPr>
          <p:cNvSpPr>
            <a:spLocks noGrp="1"/>
          </p:cNvSpPr>
          <p:nvPr>
            <p:ph type="title"/>
          </p:nvPr>
        </p:nvSpPr>
        <p:spPr>
          <a:xfrm>
            <a:off x="838200" y="220879"/>
            <a:ext cx="10515600" cy="715328"/>
          </a:xfrm>
        </p:spPr>
        <p:txBody>
          <a:bodyPr>
            <a:normAutofit/>
          </a:bodyPr>
          <a:lstStyle/>
          <a:p>
            <a:r>
              <a:rPr lang="en-GB" sz="3600" dirty="0"/>
              <a:t>Passage au </a:t>
            </a:r>
            <a:r>
              <a:rPr lang="en-GB" sz="3600" dirty="0" err="1"/>
              <a:t>niveau</a:t>
            </a:r>
            <a:r>
              <a:rPr lang="en-GB" sz="3600" dirty="0"/>
              <a:t> de la commune (1). Voir slide </a:t>
            </a:r>
            <a:r>
              <a:rPr lang="en-GB" sz="3600" dirty="0" err="1"/>
              <a:t>d’après</a:t>
            </a:r>
            <a:endParaRPr lang="en-GB" sz="3600" dirty="0"/>
          </a:p>
        </p:txBody>
      </p:sp>
      <p:pic>
        <p:nvPicPr>
          <p:cNvPr id="4" name="Picture 3">
            <a:extLst>
              <a:ext uri="{FF2B5EF4-FFF2-40B4-BE49-F238E27FC236}">
                <a16:creationId xmlns:a16="http://schemas.microsoft.com/office/drawing/2014/main" id="{BBCA47C9-E367-A6AF-2040-9F8531F3789A}"/>
              </a:ext>
            </a:extLst>
          </p:cNvPr>
          <p:cNvPicPr>
            <a:picLocks noChangeAspect="1"/>
          </p:cNvPicPr>
          <p:nvPr/>
        </p:nvPicPr>
        <p:blipFill>
          <a:blip r:embed="rId2"/>
          <a:stretch>
            <a:fillRect/>
          </a:stretch>
        </p:blipFill>
        <p:spPr>
          <a:xfrm>
            <a:off x="605675" y="1114959"/>
            <a:ext cx="10489045" cy="5610961"/>
          </a:xfrm>
          <a:prstGeom prst="rect">
            <a:avLst/>
          </a:prstGeom>
        </p:spPr>
      </p:pic>
    </p:spTree>
    <p:extLst>
      <p:ext uri="{BB962C8B-B14F-4D97-AF65-F5344CB8AC3E}">
        <p14:creationId xmlns:p14="http://schemas.microsoft.com/office/powerpoint/2010/main" val="1414069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D2DA-08F0-C338-29B6-8F7B2D019161}"/>
              </a:ext>
            </a:extLst>
          </p:cNvPr>
          <p:cNvSpPr>
            <a:spLocks noGrp="1"/>
          </p:cNvSpPr>
          <p:nvPr>
            <p:ph type="title"/>
          </p:nvPr>
        </p:nvSpPr>
        <p:spPr/>
        <p:txBody>
          <a:bodyPr>
            <a:normAutofit/>
          </a:bodyPr>
          <a:lstStyle/>
          <a:p>
            <a:r>
              <a:rPr lang="en-GB" sz="3600" dirty="0"/>
              <a:t>Passage au </a:t>
            </a:r>
            <a:r>
              <a:rPr lang="en-GB" sz="3600" dirty="0" err="1"/>
              <a:t>niveau</a:t>
            </a:r>
            <a:r>
              <a:rPr lang="en-GB" sz="3600" dirty="0"/>
              <a:t> de la commune (2)</a:t>
            </a:r>
          </a:p>
        </p:txBody>
      </p:sp>
      <p:sp>
        <p:nvSpPr>
          <p:cNvPr id="3" name="Content Placeholder 2">
            <a:extLst>
              <a:ext uri="{FF2B5EF4-FFF2-40B4-BE49-F238E27FC236}">
                <a16:creationId xmlns:a16="http://schemas.microsoft.com/office/drawing/2014/main" id="{A8EDC6EB-ADEE-5EE1-DF26-C052B8F0BC6F}"/>
              </a:ext>
            </a:extLst>
          </p:cNvPr>
          <p:cNvSpPr>
            <a:spLocks noGrp="1"/>
          </p:cNvSpPr>
          <p:nvPr>
            <p:ph idx="1"/>
          </p:nvPr>
        </p:nvSpPr>
        <p:spPr>
          <a:xfrm>
            <a:off x="838200" y="1493521"/>
            <a:ext cx="10515600" cy="4999354"/>
          </a:xfrm>
        </p:spPr>
        <p:txBody>
          <a:bodyPr>
            <a:normAutofit fontScale="92500" lnSpcReduction="10000"/>
          </a:bodyPr>
          <a:lstStyle/>
          <a:p>
            <a:r>
              <a:rPr lang="en-FR" dirty="0"/>
              <a:t>Lorsqu’on passe au niveau de la commune, on constate une très forte corrélation entre la base initiale (par usine) et l’emploi total dans une commune dans la base de l’URSSAF.</a:t>
            </a:r>
          </a:p>
          <a:p>
            <a:r>
              <a:rPr lang="en-FR" dirty="0"/>
              <a:t>Il y a néanmoins quelques exceptions pour les petites usines : Villers-Semeuse, St-André-de-l’Eure, et Poissy (ils l’ont fermée il y a quelques jours)</a:t>
            </a:r>
          </a:p>
          <a:p>
            <a:r>
              <a:rPr lang="en-GB" dirty="0"/>
              <a:t>L</a:t>
            </a:r>
            <a:r>
              <a:rPr lang="en-FR" dirty="0"/>
              <a:t>es chiffres de l’URSSAF ont tendence à être légèrement supérieurs à ceux collectés. Une potentielle explication est que l’URSSAF inclut les apprentis dans les effectifs salariés.</a:t>
            </a:r>
          </a:p>
          <a:p>
            <a:r>
              <a:rPr lang="en-FR" dirty="0"/>
              <a:t>Ça peut vouloir dire qu’on dispose désormais de la donnée emploi pour la plupart des usines francaises de 2006 à 2024 si on choisit de travailler avec la base de l’URSSAF (lorsqu’il y a uniquement une seule usine par commune. Il faudra réfléchir comment répartir l’emploi quand on a plus d’une usine par commune).</a:t>
            </a:r>
            <a:endParaRPr lang="en-GB" dirty="0"/>
          </a:p>
        </p:txBody>
      </p:sp>
    </p:spTree>
    <p:extLst>
      <p:ext uri="{BB962C8B-B14F-4D97-AF65-F5344CB8AC3E}">
        <p14:creationId xmlns:p14="http://schemas.microsoft.com/office/powerpoint/2010/main" val="139504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7CC0-4351-B13C-3223-7D271DDC3BD5}"/>
              </a:ext>
            </a:extLst>
          </p:cNvPr>
          <p:cNvSpPr>
            <a:spLocks noGrp="1"/>
          </p:cNvSpPr>
          <p:nvPr>
            <p:ph type="title"/>
          </p:nvPr>
        </p:nvSpPr>
        <p:spPr>
          <a:xfrm>
            <a:off x="4991100" y="2766218"/>
            <a:ext cx="2209800" cy="1325563"/>
          </a:xfrm>
        </p:spPr>
        <p:txBody>
          <a:bodyPr/>
          <a:lstStyle/>
          <a:p>
            <a:r>
              <a:rPr lang="en-GB" dirty="0"/>
              <a:t>Eurostat</a:t>
            </a:r>
          </a:p>
        </p:txBody>
      </p:sp>
    </p:spTree>
    <p:extLst>
      <p:ext uri="{BB962C8B-B14F-4D97-AF65-F5344CB8AC3E}">
        <p14:creationId xmlns:p14="http://schemas.microsoft.com/office/powerpoint/2010/main" val="997743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F3C5-A03A-A601-4BAC-ED45F57ADBCE}"/>
              </a:ext>
            </a:extLst>
          </p:cNvPr>
          <p:cNvSpPr>
            <a:spLocks noGrp="1"/>
          </p:cNvSpPr>
          <p:nvPr>
            <p:ph type="title"/>
          </p:nvPr>
        </p:nvSpPr>
        <p:spPr/>
        <p:txBody>
          <a:bodyPr/>
          <a:lstStyle/>
          <a:p>
            <a:r>
              <a:rPr lang="en-GB" dirty="0"/>
              <a:t>La base Eurostat (</a:t>
            </a:r>
            <a:r>
              <a:rPr lang="en-GB" dirty="0" err="1"/>
              <a:t>descriptif</a:t>
            </a:r>
            <a:r>
              <a:rPr lang="en-GB" dirty="0"/>
              <a:t>)</a:t>
            </a:r>
          </a:p>
        </p:txBody>
      </p:sp>
      <p:pic>
        <p:nvPicPr>
          <p:cNvPr id="4" name="Picture 3">
            <a:extLst>
              <a:ext uri="{FF2B5EF4-FFF2-40B4-BE49-F238E27FC236}">
                <a16:creationId xmlns:a16="http://schemas.microsoft.com/office/drawing/2014/main" id="{9075923B-2915-8FA4-78BE-18CB8E2880E4}"/>
              </a:ext>
            </a:extLst>
          </p:cNvPr>
          <p:cNvPicPr>
            <a:picLocks noChangeAspect="1"/>
          </p:cNvPicPr>
          <p:nvPr/>
        </p:nvPicPr>
        <p:blipFill>
          <a:blip r:embed="rId2"/>
          <a:stretch>
            <a:fillRect/>
          </a:stretch>
        </p:blipFill>
        <p:spPr>
          <a:xfrm>
            <a:off x="513596" y="1385888"/>
            <a:ext cx="10760309" cy="5329872"/>
          </a:xfrm>
          <a:prstGeom prst="rect">
            <a:avLst/>
          </a:prstGeom>
        </p:spPr>
      </p:pic>
    </p:spTree>
    <p:extLst>
      <p:ext uri="{BB962C8B-B14F-4D97-AF65-F5344CB8AC3E}">
        <p14:creationId xmlns:p14="http://schemas.microsoft.com/office/powerpoint/2010/main" val="4023709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2AD68-280C-C054-26FC-C41833D786F7}"/>
              </a:ext>
            </a:extLst>
          </p:cNvPr>
          <p:cNvSpPr>
            <a:spLocks noGrp="1"/>
          </p:cNvSpPr>
          <p:nvPr>
            <p:ph type="title"/>
          </p:nvPr>
        </p:nvSpPr>
        <p:spPr>
          <a:xfrm>
            <a:off x="401318" y="112916"/>
            <a:ext cx="11389360" cy="549275"/>
          </a:xfrm>
        </p:spPr>
        <p:txBody>
          <a:bodyPr>
            <a:normAutofit/>
          </a:bodyPr>
          <a:lstStyle/>
          <a:p>
            <a:r>
              <a:rPr lang="en-GB" sz="2800" dirty="0"/>
              <a:t>Petite </a:t>
            </a:r>
            <a:r>
              <a:rPr lang="en-GB" sz="2800" dirty="0" err="1"/>
              <a:t>comparaison</a:t>
            </a:r>
            <a:r>
              <a:rPr lang="en-GB" sz="2800" dirty="0"/>
              <a:t> avec URSSAF (données </a:t>
            </a:r>
            <a:r>
              <a:rPr lang="en-GB" sz="2800" dirty="0" err="1"/>
              <a:t>similaires</a:t>
            </a:r>
            <a:r>
              <a:rPr lang="en-GB" sz="2800" dirty="0"/>
              <a:t> </a:t>
            </a:r>
            <a:r>
              <a:rPr lang="en-GB" sz="2800" dirty="0" err="1"/>
              <a:t>qu’à</a:t>
            </a:r>
            <a:r>
              <a:rPr lang="en-GB" sz="2800" dirty="0"/>
              <a:t> </a:t>
            </a:r>
            <a:r>
              <a:rPr lang="en-GB" sz="2800" dirty="0" err="1"/>
              <a:t>partir</a:t>
            </a:r>
            <a:r>
              <a:rPr lang="en-GB" sz="2800" dirty="0"/>
              <a:t> de 2021) !!</a:t>
            </a:r>
          </a:p>
        </p:txBody>
      </p:sp>
      <p:pic>
        <p:nvPicPr>
          <p:cNvPr id="4" name="Picture 3">
            <a:extLst>
              <a:ext uri="{FF2B5EF4-FFF2-40B4-BE49-F238E27FC236}">
                <a16:creationId xmlns:a16="http://schemas.microsoft.com/office/drawing/2014/main" id="{3125374C-364B-0D1D-F75E-F017BDBA3F7E}"/>
              </a:ext>
            </a:extLst>
          </p:cNvPr>
          <p:cNvPicPr>
            <a:picLocks noChangeAspect="1"/>
          </p:cNvPicPr>
          <p:nvPr/>
        </p:nvPicPr>
        <p:blipFill>
          <a:blip r:embed="rId2"/>
          <a:stretch>
            <a:fillRect/>
          </a:stretch>
        </p:blipFill>
        <p:spPr>
          <a:xfrm>
            <a:off x="1504985" y="738154"/>
            <a:ext cx="9182025" cy="3003465"/>
          </a:xfrm>
          <a:prstGeom prst="rect">
            <a:avLst/>
          </a:prstGeom>
        </p:spPr>
      </p:pic>
      <p:pic>
        <p:nvPicPr>
          <p:cNvPr id="5" name="Picture 4">
            <a:extLst>
              <a:ext uri="{FF2B5EF4-FFF2-40B4-BE49-F238E27FC236}">
                <a16:creationId xmlns:a16="http://schemas.microsoft.com/office/drawing/2014/main" id="{5F4A9428-6934-E296-E7D2-405EEDD72AF1}"/>
              </a:ext>
            </a:extLst>
          </p:cNvPr>
          <p:cNvPicPr>
            <a:picLocks noChangeAspect="1"/>
          </p:cNvPicPr>
          <p:nvPr/>
        </p:nvPicPr>
        <p:blipFill>
          <a:blip r:embed="rId3"/>
          <a:stretch>
            <a:fillRect/>
          </a:stretch>
        </p:blipFill>
        <p:spPr>
          <a:xfrm>
            <a:off x="1521326" y="3741619"/>
            <a:ext cx="9149347" cy="3003465"/>
          </a:xfrm>
          <a:prstGeom prst="rect">
            <a:avLst/>
          </a:prstGeom>
        </p:spPr>
      </p:pic>
    </p:spTree>
    <p:extLst>
      <p:ext uri="{BB962C8B-B14F-4D97-AF65-F5344CB8AC3E}">
        <p14:creationId xmlns:p14="http://schemas.microsoft.com/office/powerpoint/2010/main" val="3862714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457C-9A3C-34AA-BFB6-5E59F6A470D1}"/>
              </a:ext>
            </a:extLst>
          </p:cNvPr>
          <p:cNvSpPr>
            <a:spLocks noGrp="1"/>
          </p:cNvSpPr>
          <p:nvPr>
            <p:ph type="title"/>
          </p:nvPr>
        </p:nvSpPr>
        <p:spPr>
          <a:xfrm>
            <a:off x="838200" y="101601"/>
            <a:ext cx="10515600" cy="989648"/>
          </a:xfrm>
        </p:spPr>
        <p:txBody>
          <a:bodyPr/>
          <a:lstStyle/>
          <a:p>
            <a:r>
              <a:rPr lang="en-GB" dirty="0"/>
              <a:t>Un potential </a:t>
            </a:r>
            <a:r>
              <a:rPr lang="en-GB" dirty="0" err="1"/>
              <a:t>problème</a:t>
            </a:r>
            <a:r>
              <a:rPr lang="en-GB" dirty="0"/>
              <a:t> avec Eurostat ?!</a:t>
            </a:r>
          </a:p>
        </p:txBody>
      </p:sp>
      <p:sp>
        <p:nvSpPr>
          <p:cNvPr id="3" name="Content Placeholder 2">
            <a:extLst>
              <a:ext uri="{FF2B5EF4-FFF2-40B4-BE49-F238E27FC236}">
                <a16:creationId xmlns:a16="http://schemas.microsoft.com/office/drawing/2014/main" id="{BADE6D03-0D22-967F-878D-97CAEA142D42}"/>
              </a:ext>
            </a:extLst>
          </p:cNvPr>
          <p:cNvSpPr>
            <a:spLocks noGrp="1"/>
          </p:cNvSpPr>
          <p:nvPr>
            <p:ph idx="1"/>
          </p:nvPr>
        </p:nvSpPr>
        <p:spPr>
          <a:xfrm>
            <a:off x="838200" y="1091249"/>
            <a:ext cx="10515600" cy="5420677"/>
          </a:xfrm>
        </p:spPr>
        <p:txBody>
          <a:bodyPr>
            <a:normAutofit fontScale="92500" lnSpcReduction="10000"/>
          </a:bodyPr>
          <a:lstStyle/>
          <a:p>
            <a:r>
              <a:rPr lang="en-FR" dirty="0"/>
              <a:t>Entre les deux segments (2008-2020) et (2021-2023) de la base Eurostat, il y a une différence majeure de méthode de calcul.</a:t>
            </a:r>
          </a:p>
          <a:p>
            <a:r>
              <a:rPr lang="en-FR" dirty="0"/>
              <a:t>Pour le premier segment : l’emploi total est reporté en chiffre par région.</a:t>
            </a:r>
          </a:p>
          <a:p>
            <a:r>
              <a:rPr lang="en-FR" dirty="0"/>
              <a:t>Pour le deuxième segment : d’une part, nous disposons du chiffre moyen des personnes employées dans une usine. De l’autre, nous avons le nombre d’usines par région. Donc, j’ai multiplié les deux pour avoir l’emploi total par région.</a:t>
            </a:r>
          </a:p>
          <a:p>
            <a:r>
              <a:rPr lang="en-FR" dirty="0"/>
              <a:t>Quand j’ai comparé les chiffres d’Eurostat avec les chiffres de l’URSSAF, des tendances incohérentes ressortent :</a:t>
            </a:r>
          </a:p>
          <a:p>
            <a:pPr lvl="1"/>
            <a:r>
              <a:rPr lang="en-FR" dirty="0"/>
              <a:t>Pour le deuxième segment, les chiffres collent parfaitement.</a:t>
            </a:r>
          </a:p>
          <a:p>
            <a:pPr lvl="1"/>
            <a:r>
              <a:rPr lang="en-FR" dirty="0"/>
              <a:t>Pour le premier segment, c’est bcp moins évident (l’emploi est concentré dans la région Île-de-France).</a:t>
            </a:r>
            <a:endParaRPr lang="en-GB" dirty="0"/>
          </a:p>
          <a:p>
            <a:r>
              <a:rPr lang="en-GB" dirty="0"/>
              <a:t>Voir slides ci-après </a:t>
            </a:r>
            <a:r>
              <a:rPr lang="en-GB" dirty="0">
                <a:sym typeface="Wingdings" pitchFamily="2" charset="2"/>
              </a:rPr>
              <a:t></a:t>
            </a:r>
            <a:endParaRPr lang="en-GB" dirty="0"/>
          </a:p>
        </p:txBody>
      </p:sp>
    </p:spTree>
    <p:extLst>
      <p:ext uri="{BB962C8B-B14F-4D97-AF65-F5344CB8AC3E}">
        <p14:creationId xmlns:p14="http://schemas.microsoft.com/office/powerpoint/2010/main" val="3884442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8E178-5EA0-4F9F-3D30-5F767AF5873B}"/>
              </a:ext>
            </a:extLst>
          </p:cNvPr>
          <p:cNvSpPr>
            <a:spLocks noGrp="1"/>
          </p:cNvSpPr>
          <p:nvPr>
            <p:ph type="title"/>
          </p:nvPr>
        </p:nvSpPr>
        <p:spPr/>
        <p:txBody>
          <a:bodyPr>
            <a:normAutofit/>
          </a:bodyPr>
          <a:lstStyle/>
          <a:p>
            <a:r>
              <a:rPr lang="en-GB" sz="3600" dirty="0" err="1"/>
              <a:t>Comparaison</a:t>
            </a:r>
            <a:r>
              <a:rPr lang="en-GB" sz="3600" dirty="0"/>
              <a:t> URSSAF vs. Eurostat (2ème segment)</a:t>
            </a:r>
          </a:p>
        </p:txBody>
      </p:sp>
      <p:pic>
        <p:nvPicPr>
          <p:cNvPr id="4" name="Picture 3">
            <a:extLst>
              <a:ext uri="{FF2B5EF4-FFF2-40B4-BE49-F238E27FC236}">
                <a16:creationId xmlns:a16="http://schemas.microsoft.com/office/drawing/2014/main" id="{77D5D4EC-E68D-4916-E825-5025EDE0B118}"/>
              </a:ext>
            </a:extLst>
          </p:cNvPr>
          <p:cNvPicPr>
            <a:picLocks noChangeAspect="1"/>
          </p:cNvPicPr>
          <p:nvPr/>
        </p:nvPicPr>
        <p:blipFill>
          <a:blip r:embed="rId2"/>
          <a:stretch>
            <a:fillRect/>
          </a:stretch>
        </p:blipFill>
        <p:spPr>
          <a:xfrm>
            <a:off x="127000" y="1690688"/>
            <a:ext cx="11938000" cy="3948436"/>
          </a:xfrm>
          <a:prstGeom prst="rect">
            <a:avLst/>
          </a:prstGeom>
        </p:spPr>
      </p:pic>
    </p:spTree>
    <p:extLst>
      <p:ext uri="{BB962C8B-B14F-4D97-AF65-F5344CB8AC3E}">
        <p14:creationId xmlns:p14="http://schemas.microsoft.com/office/powerpoint/2010/main" val="1184030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2A96B1-1F9F-1A10-4A3B-F2F71B0924D3}"/>
              </a:ext>
            </a:extLst>
          </p:cNvPr>
          <p:cNvSpPr>
            <a:spLocks noGrp="1"/>
          </p:cNvSpPr>
          <p:nvPr>
            <p:ph type="title"/>
          </p:nvPr>
        </p:nvSpPr>
        <p:spPr>
          <a:xfrm>
            <a:off x="91440" y="170053"/>
            <a:ext cx="12100560" cy="358267"/>
          </a:xfrm>
        </p:spPr>
        <p:txBody>
          <a:bodyPr>
            <a:noAutofit/>
          </a:bodyPr>
          <a:lstStyle/>
          <a:p>
            <a:r>
              <a:rPr lang="en-GB" sz="2400" dirty="0" err="1"/>
              <a:t>Comparaison</a:t>
            </a:r>
            <a:r>
              <a:rPr lang="en-GB" sz="2400" dirty="0"/>
              <a:t> URSSAF vs. Eurostat (2ème segment): concentration </a:t>
            </a:r>
            <a:r>
              <a:rPr lang="en-GB" sz="2400" dirty="0" err="1"/>
              <a:t>en</a:t>
            </a:r>
            <a:r>
              <a:rPr lang="en-GB" sz="2400" dirty="0"/>
              <a:t> </a:t>
            </a:r>
            <a:r>
              <a:rPr lang="en-FR" sz="2400" dirty="0"/>
              <a:t>Île-de-France </a:t>
            </a:r>
            <a:r>
              <a:rPr lang="en-GB" sz="2400" dirty="0"/>
              <a:t>avant 2021</a:t>
            </a:r>
          </a:p>
        </p:txBody>
      </p:sp>
      <p:pic>
        <p:nvPicPr>
          <p:cNvPr id="8" name="Picture 7">
            <a:extLst>
              <a:ext uri="{FF2B5EF4-FFF2-40B4-BE49-F238E27FC236}">
                <a16:creationId xmlns:a16="http://schemas.microsoft.com/office/drawing/2014/main" id="{B58C96BE-D82B-39F1-71D2-4A96A55B0437}"/>
              </a:ext>
            </a:extLst>
          </p:cNvPr>
          <p:cNvPicPr>
            <a:picLocks noChangeAspect="1"/>
          </p:cNvPicPr>
          <p:nvPr/>
        </p:nvPicPr>
        <p:blipFill>
          <a:blip r:embed="rId2"/>
          <a:stretch>
            <a:fillRect/>
          </a:stretch>
        </p:blipFill>
        <p:spPr>
          <a:xfrm>
            <a:off x="1223492" y="528320"/>
            <a:ext cx="9745016" cy="6200266"/>
          </a:xfrm>
          <a:prstGeom prst="rect">
            <a:avLst/>
          </a:prstGeom>
        </p:spPr>
      </p:pic>
    </p:spTree>
    <p:extLst>
      <p:ext uri="{BB962C8B-B14F-4D97-AF65-F5344CB8AC3E}">
        <p14:creationId xmlns:p14="http://schemas.microsoft.com/office/powerpoint/2010/main" val="279394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D187-1E24-8E3B-3AC5-A883EDE8035F}"/>
              </a:ext>
            </a:extLst>
          </p:cNvPr>
          <p:cNvSpPr>
            <a:spLocks noGrp="1"/>
          </p:cNvSpPr>
          <p:nvPr>
            <p:ph type="title"/>
          </p:nvPr>
        </p:nvSpPr>
        <p:spPr>
          <a:xfrm>
            <a:off x="838200" y="141605"/>
            <a:ext cx="10835640" cy="396875"/>
          </a:xfrm>
        </p:spPr>
        <p:txBody>
          <a:bodyPr>
            <a:normAutofit fontScale="90000"/>
          </a:bodyPr>
          <a:lstStyle/>
          <a:p>
            <a:r>
              <a:rPr lang="en-GB" sz="2800" dirty="0"/>
              <a:t>Mais Eurostat est </a:t>
            </a:r>
            <a:r>
              <a:rPr lang="en-GB" sz="2800" dirty="0" err="1"/>
              <a:t>bénéfique</a:t>
            </a:r>
            <a:r>
              <a:rPr lang="en-GB" sz="2800" dirty="0"/>
              <a:t> pour </a:t>
            </a:r>
            <a:r>
              <a:rPr lang="en-GB" sz="2800" dirty="0" err="1"/>
              <a:t>connaître</a:t>
            </a:r>
            <a:r>
              <a:rPr lang="en-GB" sz="2800" dirty="0"/>
              <a:t> les </a:t>
            </a:r>
            <a:r>
              <a:rPr lang="en-GB" sz="2800" dirty="0" err="1"/>
              <a:t>régions</a:t>
            </a:r>
            <a:r>
              <a:rPr lang="en-GB" sz="2800" dirty="0"/>
              <a:t> auto </a:t>
            </a:r>
            <a:r>
              <a:rPr lang="en-GB" sz="2800" dirty="0" err="1"/>
              <a:t>importantes</a:t>
            </a:r>
            <a:r>
              <a:rPr lang="en-GB" sz="2800" dirty="0"/>
              <a:t> d’un pays</a:t>
            </a:r>
          </a:p>
        </p:txBody>
      </p:sp>
      <p:pic>
        <p:nvPicPr>
          <p:cNvPr id="4" name="Picture 3">
            <a:extLst>
              <a:ext uri="{FF2B5EF4-FFF2-40B4-BE49-F238E27FC236}">
                <a16:creationId xmlns:a16="http://schemas.microsoft.com/office/drawing/2014/main" id="{181DDDD8-5958-D019-570B-89FFF716B019}"/>
              </a:ext>
            </a:extLst>
          </p:cNvPr>
          <p:cNvPicPr>
            <a:picLocks noChangeAspect="1"/>
          </p:cNvPicPr>
          <p:nvPr/>
        </p:nvPicPr>
        <p:blipFill>
          <a:blip r:embed="rId2"/>
          <a:stretch>
            <a:fillRect/>
          </a:stretch>
        </p:blipFill>
        <p:spPr>
          <a:xfrm>
            <a:off x="618386" y="660400"/>
            <a:ext cx="10955227" cy="6055995"/>
          </a:xfrm>
          <a:prstGeom prst="rect">
            <a:avLst/>
          </a:prstGeom>
        </p:spPr>
      </p:pic>
    </p:spTree>
    <p:extLst>
      <p:ext uri="{BB962C8B-B14F-4D97-AF65-F5344CB8AC3E}">
        <p14:creationId xmlns:p14="http://schemas.microsoft.com/office/powerpoint/2010/main" val="2604171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78450-8780-24DD-F2AF-57D486BC4C61}"/>
              </a:ext>
            </a:extLst>
          </p:cNvPr>
          <p:cNvSpPr>
            <a:spLocks noGrp="1"/>
          </p:cNvSpPr>
          <p:nvPr>
            <p:ph type="title"/>
          </p:nvPr>
        </p:nvSpPr>
        <p:spPr>
          <a:xfrm>
            <a:off x="4889500" y="2766218"/>
            <a:ext cx="2413000" cy="1325563"/>
          </a:xfrm>
        </p:spPr>
        <p:txBody>
          <a:bodyPr/>
          <a:lstStyle/>
          <a:p>
            <a:r>
              <a:rPr lang="en-GB" dirty="0" err="1"/>
              <a:t>Pavlinek</a:t>
            </a:r>
            <a:endParaRPr lang="en-GB" dirty="0"/>
          </a:p>
        </p:txBody>
      </p:sp>
    </p:spTree>
    <p:extLst>
      <p:ext uri="{BB962C8B-B14F-4D97-AF65-F5344CB8AC3E}">
        <p14:creationId xmlns:p14="http://schemas.microsoft.com/office/powerpoint/2010/main" val="4116524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4DE28-16C4-27BD-7F4F-41E163D37CE9}"/>
              </a:ext>
            </a:extLst>
          </p:cNvPr>
          <p:cNvSpPr>
            <a:spLocks noGrp="1"/>
          </p:cNvSpPr>
          <p:nvPr>
            <p:ph type="title"/>
          </p:nvPr>
        </p:nvSpPr>
        <p:spPr>
          <a:xfrm>
            <a:off x="838200" y="162560"/>
            <a:ext cx="10515600" cy="782320"/>
          </a:xfrm>
        </p:spPr>
        <p:txBody>
          <a:bodyPr>
            <a:normAutofit/>
          </a:bodyPr>
          <a:lstStyle/>
          <a:p>
            <a:r>
              <a:rPr lang="en-GB" sz="4000" dirty="0" err="1"/>
              <a:t>Pavlinek</a:t>
            </a:r>
            <a:r>
              <a:rPr lang="en-GB" sz="4000" dirty="0"/>
              <a:t> (reproduction des </a:t>
            </a:r>
            <a:r>
              <a:rPr lang="en-GB" sz="4000" dirty="0" err="1"/>
              <a:t>graphiques</a:t>
            </a:r>
            <a:r>
              <a:rPr lang="en-GB" sz="4000" dirty="0"/>
              <a:t>)</a:t>
            </a:r>
          </a:p>
        </p:txBody>
      </p:sp>
      <p:sp>
        <p:nvSpPr>
          <p:cNvPr id="3" name="Content Placeholder 2">
            <a:extLst>
              <a:ext uri="{FF2B5EF4-FFF2-40B4-BE49-F238E27FC236}">
                <a16:creationId xmlns:a16="http://schemas.microsoft.com/office/drawing/2014/main" id="{22D38DCB-3521-FE2B-6C81-FC3FBFA3B6B2}"/>
              </a:ext>
            </a:extLst>
          </p:cNvPr>
          <p:cNvSpPr>
            <a:spLocks noGrp="1"/>
          </p:cNvSpPr>
          <p:nvPr>
            <p:ph idx="1"/>
          </p:nvPr>
        </p:nvSpPr>
        <p:spPr>
          <a:xfrm>
            <a:off x="838200" y="944880"/>
            <a:ext cx="10906760" cy="5669280"/>
          </a:xfrm>
        </p:spPr>
        <p:txBody>
          <a:bodyPr>
            <a:normAutofit/>
          </a:bodyPr>
          <a:lstStyle/>
          <a:p>
            <a:r>
              <a:rPr lang="en-FR" sz="2400" dirty="0"/>
              <a:t>En général, quand on essaie de reproduire les graphiques de Pavlinek (une tâche ardue), on tombe plus ou moins sur les mêmes tendances mais difficile de retrouver ses chiffres.</a:t>
            </a:r>
            <a:endParaRPr lang="en-GB" sz="2400" dirty="0"/>
          </a:p>
          <a:p>
            <a:r>
              <a:rPr lang="en-FR" sz="2400" dirty="0"/>
              <a:t>En effet, l’auteur fait du filtrage/classification à la main, ce qui rend impossible la reproduction parfaite de ses graphiques à moins de refaire son travail.</a:t>
            </a:r>
            <a:endParaRPr lang="en-GB" sz="2400" dirty="0"/>
          </a:p>
          <a:p>
            <a:r>
              <a:rPr lang="en-GB" sz="2400" dirty="0"/>
              <a:t>La classification </a:t>
            </a:r>
            <a:r>
              <a:rPr lang="en-FR" sz="2400" dirty="0"/>
              <a:t>à</a:t>
            </a:r>
            <a:r>
              <a:rPr lang="en-GB" sz="2400" dirty="0"/>
              <a:t> la main de ‘new factories’ : </a:t>
            </a:r>
            <a:r>
              <a:rPr lang="en-FR" sz="2400" i="1" dirty="0"/>
              <a:t>"In terms of job creation, I have differentiated between </a:t>
            </a:r>
            <a:r>
              <a:rPr lang="en-FR" sz="2400" b="1" i="1" dirty="0"/>
              <a:t>new investments in new and existing locations</a:t>
            </a:r>
            <a:r>
              <a:rPr lang="en-FR" sz="2400" i="1" dirty="0"/>
              <a:t> in the form of new factories and </a:t>
            </a:r>
            <a:r>
              <a:rPr lang="en-FR" sz="2400" b="1" i="1" dirty="0"/>
              <a:t>the expansion of production in existing locations</a:t>
            </a:r>
            <a:r>
              <a:rPr lang="en-FR" sz="2400" i="1" dirty="0"/>
              <a:t>”. </a:t>
            </a:r>
          </a:p>
          <a:p>
            <a:r>
              <a:rPr lang="en-FR" sz="2400" dirty="0"/>
              <a:t>Mais la base ERM combine les deux derniers événements sous « Business expansion ». Je pense que l’auteur a lu la presse qui accompagne chaque événement de restructuration pour séparer/classer les deux événements.</a:t>
            </a:r>
            <a:endParaRPr lang="en-GB" sz="2400" dirty="0"/>
          </a:p>
          <a:p>
            <a:r>
              <a:rPr lang="en-FR" sz="2400" dirty="0"/>
              <a:t>Il dit aussi : </a:t>
            </a:r>
            <a:r>
              <a:rPr lang="en-FR" sz="2400" i="1" dirty="0"/>
              <a:t>“It involved the manual extraction of individual restructuring events in the automotive industry from the European Restructuring Monitor”. </a:t>
            </a:r>
            <a:r>
              <a:rPr lang="en-FR" sz="2400" dirty="0"/>
              <a:t>Je ne sais pas ce qu’il entend par ça et il ne l’élabore pas.</a:t>
            </a:r>
            <a:endParaRPr lang="en-GB" sz="2400" dirty="0"/>
          </a:p>
          <a:p>
            <a:r>
              <a:rPr lang="en-GB" sz="2400" dirty="0" err="1"/>
              <a:t>J’ai</a:t>
            </a:r>
            <a:r>
              <a:rPr lang="en-GB" sz="2400" dirty="0"/>
              <a:t> </a:t>
            </a:r>
            <a:r>
              <a:rPr lang="en-GB" sz="2400" dirty="0" err="1"/>
              <a:t>reproduit</a:t>
            </a:r>
            <a:r>
              <a:rPr lang="en-GB" sz="2400" dirty="0"/>
              <a:t> les </a:t>
            </a:r>
            <a:r>
              <a:rPr lang="en-GB" sz="2400" dirty="0" err="1"/>
              <a:t>graphiques</a:t>
            </a:r>
            <a:r>
              <a:rPr lang="en-GB" sz="2400" dirty="0"/>
              <a:t> 6, 7 et 8 du papier</a:t>
            </a:r>
          </a:p>
        </p:txBody>
      </p:sp>
    </p:spTree>
    <p:extLst>
      <p:ext uri="{BB962C8B-B14F-4D97-AF65-F5344CB8AC3E}">
        <p14:creationId xmlns:p14="http://schemas.microsoft.com/office/powerpoint/2010/main" val="333712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BAAA0-FC08-824F-477C-346D37812922}"/>
              </a:ext>
            </a:extLst>
          </p:cNvPr>
          <p:cNvSpPr>
            <a:spLocks noGrp="1"/>
          </p:cNvSpPr>
          <p:nvPr>
            <p:ph type="title"/>
          </p:nvPr>
        </p:nvSpPr>
        <p:spPr>
          <a:xfrm>
            <a:off x="838200" y="233045"/>
            <a:ext cx="10515600" cy="925195"/>
          </a:xfrm>
        </p:spPr>
        <p:txBody>
          <a:bodyPr>
            <a:normAutofit/>
          </a:bodyPr>
          <a:lstStyle/>
          <a:p>
            <a:r>
              <a:rPr lang="en-GB" sz="4000" dirty="0"/>
              <a:t>Figure 6 (</a:t>
            </a:r>
            <a:r>
              <a:rPr lang="en-GB" sz="4000" dirty="0" err="1"/>
              <a:t>Pavlinek</a:t>
            </a:r>
            <a:r>
              <a:rPr lang="en-GB" sz="4000" dirty="0"/>
              <a:t>)</a:t>
            </a:r>
          </a:p>
        </p:txBody>
      </p:sp>
      <p:pic>
        <p:nvPicPr>
          <p:cNvPr id="4" name="Picture 3">
            <a:extLst>
              <a:ext uri="{FF2B5EF4-FFF2-40B4-BE49-F238E27FC236}">
                <a16:creationId xmlns:a16="http://schemas.microsoft.com/office/drawing/2014/main" id="{A674C14C-0406-170B-C687-632A5458647E}"/>
              </a:ext>
            </a:extLst>
          </p:cNvPr>
          <p:cNvPicPr>
            <a:picLocks noChangeAspect="1"/>
          </p:cNvPicPr>
          <p:nvPr/>
        </p:nvPicPr>
        <p:blipFill>
          <a:blip r:embed="rId2"/>
          <a:stretch>
            <a:fillRect/>
          </a:stretch>
        </p:blipFill>
        <p:spPr>
          <a:xfrm>
            <a:off x="1122680" y="1158240"/>
            <a:ext cx="9606228" cy="5699760"/>
          </a:xfrm>
          <a:prstGeom prst="rect">
            <a:avLst/>
          </a:prstGeom>
        </p:spPr>
      </p:pic>
    </p:spTree>
    <p:extLst>
      <p:ext uri="{BB962C8B-B14F-4D97-AF65-F5344CB8AC3E}">
        <p14:creationId xmlns:p14="http://schemas.microsoft.com/office/powerpoint/2010/main" val="2388182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3A94-76A5-95C3-7B4B-C592B5B796E5}"/>
              </a:ext>
            </a:extLst>
          </p:cNvPr>
          <p:cNvSpPr>
            <a:spLocks noGrp="1"/>
          </p:cNvSpPr>
          <p:nvPr>
            <p:ph type="title"/>
          </p:nvPr>
        </p:nvSpPr>
        <p:spPr>
          <a:xfrm>
            <a:off x="838200" y="238759"/>
            <a:ext cx="10515600" cy="884555"/>
          </a:xfrm>
        </p:spPr>
        <p:txBody>
          <a:bodyPr>
            <a:normAutofit/>
          </a:bodyPr>
          <a:lstStyle/>
          <a:p>
            <a:r>
              <a:rPr lang="en-GB" sz="4000" dirty="0"/>
              <a:t>Figure 6 (reproduction)</a:t>
            </a:r>
          </a:p>
        </p:txBody>
      </p:sp>
      <p:pic>
        <p:nvPicPr>
          <p:cNvPr id="5" name="Picture 4">
            <a:extLst>
              <a:ext uri="{FF2B5EF4-FFF2-40B4-BE49-F238E27FC236}">
                <a16:creationId xmlns:a16="http://schemas.microsoft.com/office/drawing/2014/main" id="{9D2245E7-5817-8DE2-BFC9-2054931E05AA}"/>
              </a:ext>
            </a:extLst>
          </p:cNvPr>
          <p:cNvPicPr>
            <a:picLocks noChangeAspect="1"/>
          </p:cNvPicPr>
          <p:nvPr/>
        </p:nvPicPr>
        <p:blipFill>
          <a:blip r:embed="rId2"/>
          <a:stretch>
            <a:fillRect/>
          </a:stretch>
        </p:blipFill>
        <p:spPr>
          <a:xfrm>
            <a:off x="521931" y="1123314"/>
            <a:ext cx="11148137" cy="5495927"/>
          </a:xfrm>
          <a:prstGeom prst="rect">
            <a:avLst/>
          </a:prstGeom>
        </p:spPr>
      </p:pic>
    </p:spTree>
    <p:extLst>
      <p:ext uri="{BB962C8B-B14F-4D97-AF65-F5344CB8AC3E}">
        <p14:creationId xmlns:p14="http://schemas.microsoft.com/office/powerpoint/2010/main" val="1782470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F6E521D-0FE5-4821-198A-8E18EB47CB1A}"/>
              </a:ext>
            </a:extLst>
          </p:cNvPr>
          <p:cNvSpPr>
            <a:spLocks noGrp="1"/>
          </p:cNvSpPr>
          <p:nvPr>
            <p:ph type="title"/>
          </p:nvPr>
        </p:nvSpPr>
        <p:spPr>
          <a:xfrm>
            <a:off x="838200" y="131445"/>
            <a:ext cx="10515600" cy="925195"/>
          </a:xfrm>
        </p:spPr>
        <p:txBody>
          <a:bodyPr>
            <a:normAutofit/>
          </a:bodyPr>
          <a:lstStyle/>
          <a:p>
            <a:r>
              <a:rPr lang="en-GB" sz="4000" dirty="0"/>
              <a:t>Figure 7 (</a:t>
            </a:r>
            <a:r>
              <a:rPr lang="en-GB" sz="4000" dirty="0" err="1"/>
              <a:t>Pavlinek</a:t>
            </a:r>
            <a:r>
              <a:rPr lang="en-GB" sz="4000" dirty="0"/>
              <a:t>)</a:t>
            </a:r>
          </a:p>
        </p:txBody>
      </p:sp>
      <p:pic>
        <p:nvPicPr>
          <p:cNvPr id="8" name="Picture 7">
            <a:extLst>
              <a:ext uri="{FF2B5EF4-FFF2-40B4-BE49-F238E27FC236}">
                <a16:creationId xmlns:a16="http://schemas.microsoft.com/office/drawing/2014/main" id="{0ECB5998-DE8A-B2FB-2535-7DD8818D187D}"/>
              </a:ext>
            </a:extLst>
          </p:cNvPr>
          <p:cNvPicPr>
            <a:picLocks noChangeAspect="1"/>
          </p:cNvPicPr>
          <p:nvPr/>
        </p:nvPicPr>
        <p:blipFill>
          <a:blip r:embed="rId2"/>
          <a:stretch>
            <a:fillRect/>
          </a:stretch>
        </p:blipFill>
        <p:spPr>
          <a:xfrm>
            <a:off x="1142999" y="941117"/>
            <a:ext cx="9443721" cy="5870142"/>
          </a:xfrm>
          <a:prstGeom prst="rect">
            <a:avLst/>
          </a:prstGeom>
        </p:spPr>
      </p:pic>
    </p:spTree>
    <p:extLst>
      <p:ext uri="{BB962C8B-B14F-4D97-AF65-F5344CB8AC3E}">
        <p14:creationId xmlns:p14="http://schemas.microsoft.com/office/powerpoint/2010/main" val="3516664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C5C31F-DE7B-C63E-4C24-C28C0C270364}"/>
              </a:ext>
            </a:extLst>
          </p:cNvPr>
          <p:cNvSpPr>
            <a:spLocks noGrp="1"/>
          </p:cNvSpPr>
          <p:nvPr>
            <p:ph type="title"/>
          </p:nvPr>
        </p:nvSpPr>
        <p:spPr>
          <a:xfrm>
            <a:off x="838200" y="157479"/>
            <a:ext cx="10515600" cy="884555"/>
          </a:xfrm>
        </p:spPr>
        <p:txBody>
          <a:bodyPr>
            <a:normAutofit/>
          </a:bodyPr>
          <a:lstStyle/>
          <a:p>
            <a:r>
              <a:rPr lang="en-GB" sz="4000" dirty="0"/>
              <a:t>Figure 7 (reproduction)</a:t>
            </a:r>
          </a:p>
        </p:txBody>
      </p:sp>
      <p:pic>
        <p:nvPicPr>
          <p:cNvPr id="5" name="Picture 4">
            <a:extLst>
              <a:ext uri="{FF2B5EF4-FFF2-40B4-BE49-F238E27FC236}">
                <a16:creationId xmlns:a16="http://schemas.microsoft.com/office/drawing/2014/main" id="{AEFD45FD-E3D9-9094-11E6-D83D953D9BD6}"/>
              </a:ext>
            </a:extLst>
          </p:cNvPr>
          <p:cNvPicPr>
            <a:picLocks noChangeAspect="1"/>
          </p:cNvPicPr>
          <p:nvPr/>
        </p:nvPicPr>
        <p:blipFill>
          <a:blip r:embed="rId2"/>
          <a:stretch>
            <a:fillRect/>
          </a:stretch>
        </p:blipFill>
        <p:spPr>
          <a:xfrm>
            <a:off x="302264" y="1123314"/>
            <a:ext cx="11587472" cy="5495927"/>
          </a:xfrm>
          <a:prstGeom prst="rect">
            <a:avLst/>
          </a:prstGeom>
        </p:spPr>
      </p:pic>
    </p:spTree>
    <p:extLst>
      <p:ext uri="{BB962C8B-B14F-4D97-AF65-F5344CB8AC3E}">
        <p14:creationId xmlns:p14="http://schemas.microsoft.com/office/powerpoint/2010/main" val="2051186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B66D82-85ED-0543-1E45-1FE5A1F3B51F}"/>
              </a:ext>
            </a:extLst>
          </p:cNvPr>
          <p:cNvSpPr>
            <a:spLocks noGrp="1"/>
          </p:cNvSpPr>
          <p:nvPr>
            <p:ph type="title"/>
          </p:nvPr>
        </p:nvSpPr>
        <p:spPr>
          <a:xfrm>
            <a:off x="838200" y="131445"/>
            <a:ext cx="10515600" cy="925195"/>
          </a:xfrm>
        </p:spPr>
        <p:txBody>
          <a:bodyPr>
            <a:normAutofit/>
          </a:bodyPr>
          <a:lstStyle/>
          <a:p>
            <a:r>
              <a:rPr lang="en-GB" sz="4000" dirty="0"/>
              <a:t>Figure 8 (</a:t>
            </a:r>
            <a:r>
              <a:rPr lang="en-GB" sz="4000" dirty="0" err="1"/>
              <a:t>Pavlinek</a:t>
            </a:r>
            <a:r>
              <a:rPr lang="en-GB" sz="4000" dirty="0"/>
              <a:t>)</a:t>
            </a:r>
          </a:p>
        </p:txBody>
      </p:sp>
      <p:pic>
        <p:nvPicPr>
          <p:cNvPr id="5" name="Picture 4">
            <a:extLst>
              <a:ext uri="{FF2B5EF4-FFF2-40B4-BE49-F238E27FC236}">
                <a16:creationId xmlns:a16="http://schemas.microsoft.com/office/drawing/2014/main" id="{A2BB076C-DBC4-88E9-63DF-6046E900C71F}"/>
              </a:ext>
            </a:extLst>
          </p:cNvPr>
          <p:cNvPicPr>
            <a:picLocks noChangeAspect="1"/>
          </p:cNvPicPr>
          <p:nvPr/>
        </p:nvPicPr>
        <p:blipFill>
          <a:blip r:embed="rId2"/>
          <a:stretch>
            <a:fillRect/>
          </a:stretch>
        </p:blipFill>
        <p:spPr>
          <a:xfrm>
            <a:off x="838200" y="925195"/>
            <a:ext cx="9774031" cy="5801360"/>
          </a:xfrm>
          <a:prstGeom prst="rect">
            <a:avLst/>
          </a:prstGeom>
        </p:spPr>
      </p:pic>
    </p:spTree>
    <p:extLst>
      <p:ext uri="{BB962C8B-B14F-4D97-AF65-F5344CB8AC3E}">
        <p14:creationId xmlns:p14="http://schemas.microsoft.com/office/powerpoint/2010/main" val="3545469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17AF801-A5D3-48E3-94FE-80CFCF2FBA27}"/>
              </a:ext>
            </a:extLst>
          </p:cNvPr>
          <p:cNvSpPr>
            <a:spLocks noGrp="1"/>
          </p:cNvSpPr>
          <p:nvPr>
            <p:ph type="title"/>
          </p:nvPr>
        </p:nvSpPr>
        <p:spPr>
          <a:xfrm>
            <a:off x="822566" y="55879"/>
            <a:ext cx="10515600" cy="884555"/>
          </a:xfrm>
        </p:spPr>
        <p:txBody>
          <a:bodyPr>
            <a:normAutofit/>
          </a:bodyPr>
          <a:lstStyle/>
          <a:p>
            <a:r>
              <a:rPr lang="en-GB" sz="4000" dirty="0"/>
              <a:t>Figure 8 (reproduction)</a:t>
            </a:r>
          </a:p>
        </p:txBody>
      </p:sp>
      <p:pic>
        <p:nvPicPr>
          <p:cNvPr id="5" name="Picture 4">
            <a:extLst>
              <a:ext uri="{FF2B5EF4-FFF2-40B4-BE49-F238E27FC236}">
                <a16:creationId xmlns:a16="http://schemas.microsoft.com/office/drawing/2014/main" id="{7DAC5D9A-F3D1-D60D-D0D4-5D59C53955B1}"/>
              </a:ext>
            </a:extLst>
          </p:cNvPr>
          <p:cNvPicPr>
            <a:picLocks noChangeAspect="1"/>
          </p:cNvPicPr>
          <p:nvPr/>
        </p:nvPicPr>
        <p:blipFill>
          <a:blip r:embed="rId2"/>
          <a:stretch>
            <a:fillRect/>
          </a:stretch>
        </p:blipFill>
        <p:spPr>
          <a:xfrm>
            <a:off x="822566" y="940434"/>
            <a:ext cx="10235064" cy="5836286"/>
          </a:xfrm>
          <a:prstGeom prst="rect">
            <a:avLst/>
          </a:prstGeom>
        </p:spPr>
      </p:pic>
    </p:spTree>
    <p:extLst>
      <p:ext uri="{BB962C8B-B14F-4D97-AF65-F5344CB8AC3E}">
        <p14:creationId xmlns:p14="http://schemas.microsoft.com/office/powerpoint/2010/main" val="2308950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1652</TotalTime>
  <Words>1077</Words>
  <Application>Microsoft Macintosh PowerPoint</Application>
  <PresentationFormat>Widescreen</PresentationFormat>
  <Paragraphs>65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Wingdings</vt:lpstr>
      <vt:lpstr>Office Theme</vt:lpstr>
      <vt:lpstr>Point Hebdo 3</vt:lpstr>
      <vt:lpstr>La base de données de l’URSSAF</vt:lpstr>
      <vt:lpstr>Analyses et comparaisons sur la base URSSAF</vt:lpstr>
      <vt:lpstr>Découvrir la base de l’URSSAF</vt:lpstr>
      <vt:lpstr>Comparaison avec la base compilée à la main</vt:lpstr>
      <vt:lpstr>Passage au niveau de la commune (1). Voir slide d’après</vt:lpstr>
      <vt:lpstr>Passage au niveau de la commune (2)</vt:lpstr>
      <vt:lpstr>Eurostat</vt:lpstr>
      <vt:lpstr>La base Eurostat (descriptif)</vt:lpstr>
      <vt:lpstr>Petite comparaison avec URSSAF (données similaires qu’à partir de 2021) !!</vt:lpstr>
      <vt:lpstr>Un potential problème avec Eurostat ?!</vt:lpstr>
      <vt:lpstr>Comparaison URSSAF vs. Eurostat (2ème segment)</vt:lpstr>
      <vt:lpstr>Comparaison URSSAF vs. Eurostat (2ème segment): concentration en Île-de-France avant 2021</vt:lpstr>
      <vt:lpstr>Mais Eurostat est bénéfique pour connaître les régions auto importantes d’un pays</vt:lpstr>
      <vt:lpstr>Pavlinek</vt:lpstr>
      <vt:lpstr>Pavlinek (reproduction des graphiques)</vt:lpstr>
      <vt:lpstr>Figure 6 (Pavlinek)</vt:lpstr>
      <vt:lpstr>Figure 6 (reproduction)</vt:lpstr>
      <vt:lpstr>Figure 7 (Pavlinek)</vt:lpstr>
      <vt:lpstr>Figure 7 (reproduction)</vt:lpstr>
      <vt:lpstr>Figure 8 (Pavlinek)</vt:lpstr>
      <vt:lpstr>Figure 8 (reproduction)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 Shamashan</dc:creator>
  <cp:lastModifiedBy>Magd Shamashan</cp:lastModifiedBy>
  <cp:revision>2</cp:revision>
  <dcterms:created xsi:type="dcterms:W3CDTF">2026-04-16T08:25:50Z</dcterms:created>
  <dcterms:modified xsi:type="dcterms:W3CDTF">2026-04-30T09:11:43Z</dcterms:modified>
</cp:coreProperties>
</file>